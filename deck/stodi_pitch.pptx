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7043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STODI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640080" y="213969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study agent that texts first.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study agent for any high-stakes exam — syllabus-grounded, in the student's messaging app, running their spaced-repetition loop. Every exam is a swappable pack. WAEC is pack #1, live today.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 Startups AI Agents Challenge · Track 1: Build  |  Gemini · ADK · Cloud Run  |  Eric — @sabicoder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23560" y="777240"/>
            <a:ext cx="2926080" cy="3611880"/>
          </a:xfrm>
          <a:prstGeom prst="roundRect">
            <a:avLst>
              <a:gd name="adj" fmla="val 3750"/>
            </a:avLst>
          </a:prstGeom>
          <a:solidFill>
            <a:srgbClr val="F7F6F1"/>
          </a:solidFill>
          <a:ln/>
          <a:effectLst>
            <a:outerShdw sx="100000" sy="100000" kx="0" ky="0" algn="bl" rotWithShape="0" blurRad="88900" dist="25400" dir="8100000">
              <a:srgbClr val="1F2A1F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23560" y="9144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08:00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806440" y="1207008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DE3D5"/>
            </a:solidFill>
            <a:prstDash val="solid"/>
          </a:ln>
          <a:effectLst>
            <a:outerShdw sx="100000" sy="100000" kx="0" ky="0" algn="bl" rotWithShape="0" blurRad="88900" dist="25400" dir="8100000">
              <a:srgbClr val="1F2A1F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16168" y="1261872"/>
            <a:ext cx="2020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Morning! Quick drill — 3 questions on your weak spots. Ready? 💪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12280" y="2029968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88900" dist="25400" dir="8100000">
              <a:srgbClr val="1F2A1F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22008" y="208483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Ready! 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505456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DE3D5"/>
            </a:solidFill>
            <a:prstDash val="solid"/>
          </a:ln>
          <a:effectLst>
            <a:outerShdw sx="100000" sy="100000" kx="0" ky="0" algn="bl" rotWithShape="0" blurRad="88900" dist="25400" dir="8100000">
              <a:srgbClr val="1F2A1F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16168" y="256032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Solve  x² − 5x + 6 = 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12280" y="3182112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88900" dist="25400" dir="8100000">
              <a:srgbClr val="1F2A1F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22008" y="3236976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2 or 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06440" y="3657600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DE3D5"/>
            </a:solidFill>
            <a:prstDash val="solid"/>
          </a:ln>
          <a:effectLst>
            <a:outerShdw sx="100000" sy="100000" kx="0" ky="0" algn="bl" rotWithShape="0" blurRad="88900" dist="25400" dir="8100000">
              <a:srgbClr val="1F2A1F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16168" y="3712464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3/3 — Quadratics 64% → 71%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exam decides their future. Forgetting decides the exam.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251460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F2A1F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09344"/>
            <a:ext cx="21854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1M+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04672" y="2322576"/>
            <a:ext cx="2185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WASSCE candidates every year — Nigeria, Ghana, Sierra Leone, Liberia, The Gambia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10128" y="1481328"/>
            <a:ext cx="251460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F2A1F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609344"/>
            <a:ext cx="21854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74720" y="2322576"/>
            <a:ext cx="2185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gates university admission and most formal employment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89320" y="1481328"/>
            <a:ext cx="251460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F2A1F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53912" y="1609344"/>
            <a:ext cx="21854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A9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₦0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153912" y="2322576"/>
            <a:ext cx="2185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tutoring market serves the students who can't afford ₦5k–20k/month lessons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246120"/>
            <a:ext cx="78638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F2A1F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38328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study hard — then lose it. </a:t>
            </a:r>
            <a:pPr indent="0" marL="0">
              <a:buNone/>
            </a:pPr>
            <a:r>
              <a:rPr lang="en-US" sz="1300" dirty="0">
                <a:solidFill>
                  <a:srgbClr val="6B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is unstructured, tutoring is unaffordable, and every existing AI study tool is reactive: the student must open an app, upload material, and drive each session. The students who most need structure never drive.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420624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Studying isn't the bottleneck. Remembering is.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Forgetting is predictable — so studying can be autonomous.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374904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F2A1F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64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4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STUDY TOOL TODAY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opens the app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uploads, prompts, drives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only for already-motivated students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3703320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E5E2D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7033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4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REACTIVE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481328"/>
            <a:ext cx="3749040" cy="2743200"/>
          </a:xfrm>
          <a:prstGeom prst="roundRect">
            <a:avLst>
              <a:gd name="adj" fmla="val 3000"/>
            </a:avLst>
          </a:prstGeom>
          <a:solidFill>
            <a:srgbClr val="E9F1DF"/>
          </a:solidFill>
          <a:ln/>
          <a:effectLst>
            <a:outerShdw sx="100000" sy="100000" kx="0" ky="0" algn="bl" rotWithShape="0" blurRad="88900" dist="25400" dir="8100000">
              <a:srgbClr val="1F2A1F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1664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STODI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20574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what you know — per-topic mastery model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when you'll forget — spaced repetition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Texts you first — drip quiz at 08:00, graded like an examiner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83480" y="3703320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37033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449884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student's only job: reply.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— LIVE 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retention loop inside the app they open 50× a day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017520" cy="34290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F2A1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00200"/>
            <a:ext cx="2331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DE3D5"/>
            </a:solidFill>
            <a:prstDash val="solid"/>
          </a:ln>
          <a:effectLst>
            <a:outerShdw sx="100000" sy="100000" kx="0" ky="0" algn="bl" rotWithShape="0" blurRad="88900" dist="25400" dir="8100000">
              <a:srgbClr val="1F2A1F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32688" y="1655064"/>
            <a:ext cx="21122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Drill time! Q1. Make x the subject:  y = 3x − 4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20240" y="2395728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88900" dist="25400" dir="8100000">
              <a:srgbClr val="1F2A1F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29968" y="245059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(y + 4) / 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871216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DE3D5"/>
            </a:solidFill>
            <a:prstDash val="solid"/>
          </a:ln>
          <a:effectLst>
            <a:outerShdw sx="100000" sy="100000" kx="0" ky="0" algn="bl" rotWithShape="0" blurRad="88900" dist="25400" dir="8100000">
              <a:srgbClr val="1F2A1F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32688" y="292608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Correct! Algebra 58% → 66% 📈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20240" y="35661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2C5F2D"/>
          </a:solidFill>
          <a:ln/>
          <a:effectLst>
            <a:outerShdw sx="100000" sy="100000" kx="0" ky="0" algn="bl" rotWithShape="0" blurRad="88900" dist="25400" dir="8100000">
              <a:srgbClr val="1F2A1F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29968" y="3621024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[photo of notes]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4059936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DE3D5"/>
            </a:solidFill>
            <a:prstDash val="solid"/>
          </a:ln>
          <a:effectLst>
            <a:outerShdw sx="100000" sy="100000" kx="0" ky="0" algn="bl" rotWithShape="0" blurRad="88900" dist="25400" dir="8100000">
              <a:srgbClr val="1F2A1F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2688" y="4114800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read your jotter — Logarithms. Want a 3-question drill on it?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77640" y="1417320"/>
            <a:ext cx="452628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F2A1F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60520" y="1632204"/>
            <a:ext cx="347472" cy="34747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4160520" y="16322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15087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Telegram bot live — WhatsApp next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178308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Channel-agnostic core; photo-of-notes ingestion via Gemini multimodal OCR.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977640" y="2304288"/>
            <a:ext cx="452628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F2A1F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60520" y="2519172"/>
            <a:ext cx="347472" cy="34747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4160520" y="25191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63440" y="239572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Grades like an examiner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63440" y="267004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Marking-scheme scoring with partial credit — including WAEC essay criteria.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977640" y="3191256"/>
            <a:ext cx="452628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F2A1F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60520" y="3406140"/>
            <a:ext cx="347472" cy="34747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4160520" y="34061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63440" y="32826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Remembers every student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63440" y="3557016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Per-topic mastery persists across sessions (Firestore / JSON store).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977640" y="4078224"/>
            <a:ext cx="452628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F2A1F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160520" y="4293108"/>
            <a:ext cx="347472" cy="347472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32" name="Text 30"/>
          <p:cNvSpPr/>
          <p:nvPr/>
        </p:nvSpPr>
        <p:spPr>
          <a:xfrm>
            <a:off x="4160520" y="42931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663440" y="416966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 morning drips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663440" y="444398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topics first — Cloud Scheduler fires 08:00 Africa/Lagos.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Gemini agents, one orchestrator — on Google's ADK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210312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F2A1F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72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470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· WhatsApp · text, photo, voice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0" y="1874520"/>
            <a:ext cx="502920" cy="0"/>
          </a:xfrm>
          <a:prstGeom prst="line">
            <a:avLst/>
          </a:prstGeom>
          <a:noFill/>
          <a:ln w="3175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246120" y="1481328"/>
            <a:ext cx="5257800" cy="777240"/>
          </a:xfrm>
          <a:prstGeom prst="roundRect">
            <a:avLst>
              <a:gd name="adj" fmla="val 10588"/>
            </a:avLst>
          </a:prstGeom>
          <a:solidFill>
            <a:srgbClr val="2C5F2D"/>
          </a:solidFill>
          <a:ln/>
          <a:effectLst>
            <a:outerShdw sx="100000" sy="100000" kx="0" ky="0" algn="bl" rotWithShape="0" blurRad="88900" dist="25400" dir="8100000">
              <a:srgbClr val="1F2A1F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481328"/>
            <a:ext cx="5257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ORCHESTRATOR  (root agent — classifies intent, routes, synthesizes)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554480" y="2395728"/>
            <a:ext cx="0" cy="256032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651760"/>
            <a:ext cx="187452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F2A1F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276148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CURRICULUM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03580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— syllabus, questions, marking schemes (RAG)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89020" y="2395728"/>
            <a:ext cx="0" cy="256032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74620" y="2651760"/>
            <a:ext cx="187452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F2A1F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811780" y="276148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TUTOR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11780" y="303580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teaching + MCQ drills — guides, never dumps answers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23560" y="2395728"/>
            <a:ext cx="0" cy="256032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2651760"/>
            <a:ext cx="187452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F2A1F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276148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RETENTION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03580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tracking + spaced-repetition scheduling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658100" y="2395728"/>
            <a:ext cx="0" cy="256032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43700" y="2651760"/>
            <a:ext cx="187452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F2A1F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80860" y="276148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80860" y="303580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Examiner-style scoring with partial credit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" y="4041648"/>
            <a:ext cx="7863840" cy="566928"/>
          </a:xfrm>
          <a:prstGeom prst="roundRect">
            <a:avLst>
              <a:gd name="adj" fmla="val 14516"/>
            </a:avLst>
          </a:prstGeom>
          <a:solidFill>
            <a:srgbClr val="1B2E1C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041648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Cloud   ·   Gemini 3.5 Flash (Vertex AI)   ·   Vertex AI Search (RAG)   ·   Cloud Run   ·   Cloud Scheduler   ·   Firestore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470001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sub-agent delegation (A2A-style) · exam packs served over MCP (stdio server + McpToolset) — any MCP agent can mount them.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IT'S TRUSTWORTHY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Grounded on the official syllabus. Proven by evals.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3886200" cy="315468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F2A1F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642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EXAM PACK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029968"/>
            <a:ext cx="3429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syllabus tree — Maths 25 topics, English 19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corpus with examiner marking schemes (45 questions incl. essay rubrics)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cadence per topic difficulty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Search grounding — local-corpus fallback, never over-claims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413308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exam = new pack, not a rebuild.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92040" y="1481328"/>
            <a:ext cx="3611880" cy="3154680"/>
          </a:xfrm>
          <a:prstGeom prst="roundRect">
            <a:avLst>
              <a:gd name="adj" fmla="val 2609"/>
            </a:avLst>
          </a:prstGeom>
          <a:solidFill>
            <a:srgbClr val="1B2E1C"/>
          </a:solidFill>
          <a:ln/>
          <a:effectLst>
            <a:outerShdw sx="100000" sy="100000" kx="0" ky="0" algn="bl" rotWithShape="0" blurRad="88900" dist="25400" dir="8100000">
              <a:srgbClr val="1F2A1F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0" y="162763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0A9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77/77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120640" y="2377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checks green — incl. live-LLM suites on Vertex AI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120640" y="2834640"/>
            <a:ext cx="3154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Grader matches examiner marks exactly on 9/10 held-out answers (10/10 within ±1)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routes 8/8 intents to the right sub-agent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key CI-validated — already caught a real bug pre-launch · injection-proof calculator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Millions of candidates a year — and every exam is a new SKU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4937760" cy="731520"/>
          </a:xfrm>
          <a:prstGeom prst="roundRect">
            <a:avLst>
              <a:gd name="adj" fmla="val 1125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88900" dist="25400" dir="8100000">
              <a:srgbClr val="1F2A1F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276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  ·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4–5M/yr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9385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African high-stakes exam candidates (WASSCE · JAMB · NECO · BECE)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3931920" cy="731520"/>
          </a:xfrm>
          <a:prstGeom prst="roundRect">
            <a:avLst>
              <a:gd name="adj" fmla="val 11250"/>
            </a:avLst>
          </a:prstGeom>
          <a:solidFill>
            <a:srgbClr val="97BC62"/>
          </a:solidFill>
          <a:ln/>
          <a:effectLst>
            <a:outerShdw sx="100000" sy="100000" kx="0" ky="0" algn="bl" rotWithShape="0" blurRad="88900" dist="25400" dir="8100000">
              <a:srgbClr val="1F2A1F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5420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  ·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8529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WASSCE + JAMB candidates with smartphone + messaging access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2926080" cy="731520"/>
          </a:xfrm>
          <a:prstGeom prst="roundRect">
            <a:avLst>
              <a:gd name="adj" fmla="val 11250"/>
            </a:avLst>
          </a:prstGeom>
          <a:solidFill>
            <a:srgbClr val="E0A93E"/>
          </a:solidFill>
          <a:ln/>
          <a:effectLst>
            <a:outerShdw sx="100000" sy="100000" kx="0" ky="0" algn="bl" rotWithShape="0" blurRad="88900" dist="25400" dir="8100000">
              <a:srgbClr val="1F2A1F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4564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  ·  </a:t>
            </a:r>
            <a:pPr indent="0" marL="0">
              <a:buNone/>
            </a:pPr>
            <a:r>
              <a:rPr lang="en-US" sz="1700" b="1" dirty="0">
                <a:solidFill>
                  <a:srgbClr val="1F2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37673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24-month target via creator + school channels, 5–8% paid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806440" y="1554480"/>
            <a:ext cx="2697480" cy="256032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F2A1F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89320" y="17007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PACK FLYWHEEL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89320" y="2048256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WAEC — live now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JAMB — next (≈2M candidates)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NECO · BECE — later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certs — v2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89320" y="35844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6B74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five agents. New content drop.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Anchor: families already pay ₦18k–28k just to register for WASSCE — and ₦5k–20k/month for private lessons in cities.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Freemium where free is also the growth loop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78638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240280"/>
                <a:gridCol w="42062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Tier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Price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What's included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subject · daily 3-question drip · weekly progress report — the shareable hook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₦1,500/mo (~$1) · ₦6,000/season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subjects · unlimited tutoring &amp; essay grading · mock exams · parent report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School (B2B)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₦500/student/term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Cohort dashboards for teachers · bulk onboarding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NGO / state pays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Scholarship cohorts — CSR budgets already fund exam fees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Payable by mobile money / airtime-range pricing. Premium upgrade prompts ride the Jan–May exam-season window.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ECONOMICS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 Flash makes a $1 price point work in West Africa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48463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15544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User profile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LLM calls/day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COGS/month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(drip + grading)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$0.30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(drip + daily tutoring)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$1.10 → $0.45–0.60 with Flash-Lite routing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2918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in the open: </a:t>
            </a:r>
            <a:pPr indent="0" marL="0">
              <a:buNone/>
            </a:pPr>
            <a:r>
              <a:rPr lang="en-US" sz="1100" dirty="0">
                <a:solidFill>
                  <a:srgbClr val="6B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Flash-class rates (assumed $0.30/M input · $2.50/M output); ₦1,500/$. Routing + drip formatting move to Flash-Lite (3–6× cheaper) — margins improve with every Gemini price cut.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806440" y="1600200"/>
            <a:ext cx="269748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F2A1F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71032" y="1728216"/>
            <a:ext cx="2368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40–55%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971032" y="2441448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on Premium after the Flash-Lite lever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806440" y="3246120"/>
            <a:ext cx="269748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F2A1F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71032" y="3374136"/>
            <a:ext cx="2368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A9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$0.30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5971032" y="4087368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cost of a free user — that's the entire CAC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unfair advantage: the funnel already exists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37947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F2A1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82496"/>
            <a:ext cx="384048" cy="384048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53312" y="16459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Owned audience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53312" y="1956816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Stodi is built in public on the SABI AI &amp; Automation YouTube channel — the build series is the launch funnel. Pilot CAC ≈ ₦0.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481328"/>
            <a:ext cx="37947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F2A1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6824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22392" y="16459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Class-rep ambassadors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22392" y="1956816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student per class invites the WhatsApp/Telegram study group. The morning drip is inherently shareable.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081528"/>
            <a:ext cx="37947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F2A1F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2826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282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53312" y="32461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Exam-season window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353312" y="3557016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Jan–May panic before the May/June WASSCE: streaks, mock countdowns, upgrade prompts timed to peak urgency.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3081528"/>
            <a:ext cx="37947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F2A1F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32826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282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22392" y="32461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Schools &amp; sponsors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22392" y="3557016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cohort dashboards for teachers; states and NGOs already pay exam fees — sponsoring Stodi cohorts is a line item.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Everyone generates content. Nobody owns retention.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78638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71600"/>
                <a:gridCol w="1737360"/>
                <a:gridCol w="137160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Initiates contact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Official syllabus + marking schemes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Lives in the chat app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Exam-specific grading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NotebookLM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9BF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9BF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9BF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9BF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Khanmigo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9BF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9BF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9BF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9BF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StudyFetch / Turbolearn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9BF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9BF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9BF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9BF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Quizlet / Knowt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9BF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9BF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9BF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9BF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STODI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0A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0A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0A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0A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526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where due: NotebookLM is excellent on your sources, Khanmigo on US K-12 pedagogy. Neither schedules your retention, grades against WAEC schemes, or texts a student in Lagos first.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WAEC today. Every syllabus on Earth after that.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2468880" cy="1691640"/>
          </a:xfrm>
          <a:prstGeom prst="roundRect">
            <a:avLst>
              <a:gd name="adj" fmla="val 4865"/>
            </a:avLst>
          </a:prstGeom>
          <a:solidFill>
            <a:srgbClr val="24411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627632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9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" y="1956816"/>
            <a:ext cx="2139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live · WAEC Maths + English packs · 77/77 evals · live on Cloud Run + Scheduler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37560" y="1481328"/>
            <a:ext cx="2468880" cy="1691640"/>
          </a:xfrm>
          <a:prstGeom prst="roundRect">
            <a:avLst>
              <a:gd name="adj" fmla="val 4865"/>
            </a:avLst>
          </a:prstGeom>
          <a:solidFill>
            <a:srgbClr val="24411F"/>
          </a:solidFill>
          <a:ln/>
        </p:spPr>
      </p:sp>
      <p:sp>
        <p:nvSpPr>
          <p:cNvPr id="8" name="Text 6"/>
          <p:cNvSpPr/>
          <p:nvPr/>
        </p:nvSpPr>
        <p:spPr>
          <a:xfrm>
            <a:off x="3502152" y="1627632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 DAYS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02152" y="1956816"/>
            <a:ext cx="2139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 · JAMB pack · 500-student pilot with published retention metrics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5040" y="1481328"/>
            <a:ext cx="2468880" cy="1691640"/>
          </a:xfrm>
          <a:prstGeom prst="roundRect">
            <a:avLst>
              <a:gd name="adj" fmla="val 4865"/>
            </a:avLst>
          </a:prstGeom>
          <a:solidFill>
            <a:srgbClr val="24411F"/>
          </a:solidFill>
          <a:ln/>
        </p:spPr>
      </p:sp>
      <p:sp>
        <p:nvSpPr>
          <p:cNvPr id="11" name="Text 9"/>
          <p:cNvSpPr/>
          <p:nvPr/>
        </p:nvSpPr>
        <p:spPr>
          <a:xfrm>
            <a:off x="6199632" y="1627632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99632" y="1956816"/>
            <a:ext cx="2139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Oral-English voice drills · school dashboards · NECO/BECE packs · marketplace listing for the MCP pack registry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0" y="3520440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DE3D5"/>
            </a:solidFill>
            <a:prstDash val="solid"/>
          </a:ln>
          <a:effectLst>
            <a:outerShdw sx="100000" sy="100000" kx="0" ky="0" algn="bl" rotWithShape="0" blurRad="88900" dist="25400" dir="8100000">
              <a:srgbClr val="1F2A1F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852928" y="3575304"/>
            <a:ext cx="3438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Tomorrow, 08:00 — your next drill is already scheduled.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297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Stodi. Eliminate forgetting.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0080" y="4800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public — SABI AI &amp; Automation (@sabicoder) · Gemini · ADK · Google Cloud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Stodi — Autonomous WAEC Study Agent</dc:title>
  <dc:subject>PptxGenJS Presentation</dc:subject>
  <dc:creator>Eric — SABI AI &amp; Automation</dc:creator>
  <cp:lastModifiedBy>Eric — SABI AI &amp; Automation</cp:lastModifiedBy>
  <cp:revision>1</cp:revision>
  <dcterms:created xsi:type="dcterms:W3CDTF">2026-06-11T21:44:06Z</dcterms:created>
  <dcterms:modified xsi:type="dcterms:W3CDTF">2026-06-11T21:44:06Z</dcterms:modified>
</cp:coreProperties>
</file>